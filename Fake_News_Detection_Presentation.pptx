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This presentation covers our project on detecting fake news. Instead of just looking at the text (like most systems), we also look at how posts are connected to each other (like who posted them and what they link to).</a:t>
            </a:r>
          </a:p>
          <a:p>
            <a:r>
              <a:t>Key terminology: Multimodal, Graph Neural Networks (GNN), Baseline Model, Fake News Detection.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We are explaining that reading the text isn't enough to catch fake news anymore. We need to see who is talking to who, and how information spreads. Our solution combines reading the text with mapping the network of posts.</a:t>
            </a:r>
          </a:p>
          <a:p>
            <a:r>
              <a:t>Key terminologies: NLP (Natural Language Processing), Social Context, Graph Neural Networks (GNN).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These are the technical words the professor might ask about. Nodes are the posts, edges are the lines connecting them. ModernBERT is the 'reader' that understands text. GraphSAGE is the 'network analyzer' that looks at the connections. Embeddings are just mathematical translations of text into numbers so the computer can process it.</a:t>
            </a:r>
          </a:p>
          <a:p>
            <a:r>
              <a:t>Key terminologies: GNN, Node, Edge, ModernBERT, GraphSAGE, Embeddings, Epochs.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This is the software and tools we used to build the project. PyTorch is the main engine for our AI models. PyTorch Geometric specifically handles the graph math. HuggingFace provides the ModernBERT text model.</a:t>
            </a:r>
          </a:p>
          <a:p>
            <a:r>
              <a:t>Key terminologies: PyTorch, PyTorch Geometric (PyG), HuggingFace, Transformers, Scikit-learn.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This diagram shows the flow of our data. First we clean it, then we use ModernBERT to read the text and turn it into numbers (embeddings). At the same time, we build a map of how the posts are connected (Graph Construction). Finally, GraphSAGE combines both to make the final prediction (Fake or Real).</a:t>
            </a:r>
          </a:p>
          <a:p>
            <a:r>
              <a:t>Key terminologies: Data Preprocessing, Text Encoding, Embeddings, Graph Construction, GraphSAGE.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First we took a massive dataset and cleaned up the messy bits (missing authors, blank text). Then we took a smaller, perfectly balanced slice of 10,000 posts so we could test our ideas quickly without crashing the computer's memory.</a:t>
            </a:r>
          </a:p>
          <a:p>
            <a:r>
              <a:t>Key terminologies: Fakeddit, Preprocessing, Pilot Dataset, Data Balancing, Nodes.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We trained a highly advanced AI reader (ModernBERT) to guess if a post is fake just by reading the title. It did pretty well, but we use this as a 'baseline'—the score we want to beat by adding our graph network later.</a:t>
            </a:r>
          </a:p>
          <a:p>
            <a:r>
              <a:t>Key terminologies: ModernBERT, Fine-tuning, Baseline, FlashAttention-2, RoPE (Rotary Positional Embeddings).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We built a web showing how posts relate. If two posts have the same author, we draw a line between them. If one post replies to another, we draw a line. We stopped super-active accounts (like bots) from drawing too many lines so the computer wouldn't crash.</a:t>
            </a:r>
          </a:p>
          <a:p>
            <a:r>
              <a:t>Key terminologies: Graph Construction, Nodes, Edges, Directed Edges, Degree Explosion, Adjacency Matrix.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We turned all 10,000 texts into lists of 768 numbers. Then GraphSAGE looks at those numbers, plus the numbers of the post's 'neighbors' in the web we built, to make a final decision. We hid the test data carefully so the model couldn't cheat.</a:t>
            </a:r>
          </a:p>
          <a:p>
            <a:r>
              <a:t>Key terminologies: Feature Extraction, Embeddings (768-dimensional), GraphSAGE, Transductive Masks, Data Leakage, Aggregation.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This is the proof our idea worked. The text-only AI got a score of 0.78. When we added the network of who-talks-to-who, the score jumped to 0.83 on brand new data it had never seen before. It proves fake news is easier to catch when you look at the social connections.</a:t>
            </a:r>
          </a:p>
          <a:p>
            <a:r>
              <a:t>Key terminologies: Validation Accuracy, Test Accuracy, F1-Score, Text-Only Baseline, Graph Context,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We hit three big problems. 1. Spammers made our web too dense and crashed the computer, so we limited them. 2. In networks, it's easy for the AI to accidentally cheat by looking at its neighbors' answers, so we strictly hid the test answers (masks). 3. Text AI is slow, so we used the newest fast model and split the work into two stages.</a:t>
            </a:r>
          </a:p>
          <a:p>
            <a:r>
              <a:t>Key terminologies: Degree Explosion, Cliques, Data Leakage, Transductive Masking, Offline Embedding Extraction.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What's next? First, run this on the massive half-million post dataset. Second, start looking at the pictures in the posts, not just the text. Third, we can teach the AI that some connections (like direct replies) matter more than others (like having the same author).</a:t>
            </a:r>
          </a:p>
          <a:p>
            <a:r>
              <a:t>Key terminologies: Scaling, Multimodal Integration, Image Embeddings, Edge Weights, GATv2 (Graph Attention Networks).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Layman terms: The main lesson is that you can't just read a post to know if it's fake anymore. You have to look at the network around it. By combining advanced reading AI with advanced network AI, we built a very strong system that catches fake news 86% of the time.</a:t>
            </a:r>
          </a:p>
          <a:p>
            <a:r>
              <a:t>Key terminologies: Semantic Embeddings, Topological Structure, Hybrid Architecture, Scalability.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Arial"/>
              </a:defRPr>
            </a:pPr>
            <a:r>
              <a:t>Multimodal &amp; Graph-Enhanced Fake News Detection</a:t>
            </a:r>
          </a:p>
        </p:txBody>
      </p:sp>
      <p:sp>
        <p:nvSpPr>
          <p:cNvPr id="3" name="Subtitle 2"/>
          <p:cNvSpPr>
            <a:spLocks noGrp="1"/>
          </p:cNvSpPr>
          <p:nvPr>
            <p:ph type="subTitle" idx="1"/>
          </p:nvPr>
        </p:nvSpPr>
        <p:spPr/>
        <p:txBody>
          <a:bodyPr/>
          <a:lstStyle/>
          <a:p>
            <a:pPr>
              <a:defRPr>
                <a:solidFill>
                  <a:srgbClr val="000000"/>
                </a:solidFill>
                <a:latin typeface="Arial"/>
              </a:defRPr>
            </a:pPr>
            <a:r>
              <a:t>End-to-End Pipeline, Methodology, and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Problem Statement &amp; Introduction</a:t>
            </a:r>
          </a:p>
        </p:txBody>
      </p:sp>
      <p:sp>
        <p:nvSpPr>
          <p:cNvPr id="3" name="Content Placeholder 2"/>
          <p:cNvSpPr>
            <a:spLocks noGrp="1"/>
          </p:cNvSpPr>
          <p:nvPr>
            <p:ph idx="1"/>
          </p:nvPr>
        </p:nvSpPr>
        <p:spPr/>
        <p:txBody>
          <a:bodyPr/>
          <a:lstStyle/>
          <a:p/>
          <a:p>
            <a:pPr>
              <a:defRPr sz="2000">
                <a:solidFill>
                  <a:srgbClr val="000000"/>
                </a:solidFill>
                <a:latin typeface="Arial"/>
              </a:defRPr>
            </a:pPr>
            <a:r>
              <a:t>• Fake news doesn't exist in a vacuum; it spreads through networks.</a:t>
            </a:r>
          </a:p>
          <a:p>
            <a:pPr>
              <a:spcBef>
                <a:spcPts val="1000"/>
              </a:spcBef>
              <a:defRPr sz="2000">
                <a:solidFill>
                  <a:srgbClr val="000000"/>
                </a:solidFill>
                <a:latin typeface="Arial"/>
              </a:defRPr>
            </a:pPr>
            <a:r>
              <a:t>• Traditional NLP (Natural Language Processing) models only look at the text, which can be fooled easily.</a:t>
            </a:r>
          </a:p>
          <a:p>
            <a:pPr>
              <a:spcBef>
                <a:spcPts val="1000"/>
              </a:spcBef>
              <a:defRPr sz="2000">
                <a:solidFill>
                  <a:srgbClr val="000000"/>
                </a:solidFill>
                <a:latin typeface="Arial"/>
              </a:defRPr>
            </a:pPr>
            <a:r>
              <a:t>• Solution: Combine text understanding with social context (authors, links).</a:t>
            </a:r>
          </a:p>
          <a:p>
            <a:pPr>
              <a:spcBef>
                <a:spcPts val="1000"/>
              </a:spcBef>
              <a:defRPr sz="2000">
                <a:solidFill>
                  <a:srgbClr val="000000"/>
                </a:solidFill>
                <a:latin typeface="Arial"/>
              </a:defRPr>
            </a:pPr>
            <a:r>
              <a:t>• We use Graph Neural Networks to map these connections and improve detection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Key Terminologies</a:t>
            </a:r>
          </a:p>
        </p:txBody>
      </p:sp>
      <p:sp>
        <p:nvSpPr>
          <p:cNvPr id="3" name="Content Placeholder 2"/>
          <p:cNvSpPr>
            <a:spLocks noGrp="1"/>
          </p:cNvSpPr>
          <p:nvPr>
            <p:ph idx="1"/>
          </p:nvPr>
        </p:nvSpPr>
        <p:spPr/>
        <p:txBody>
          <a:bodyPr/>
          <a:lstStyle/>
          <a:p/>
          <a:p>
            <a:pPr>
              <a:defRPr sz="2000">
                <a:solidFill>
                  <a:srgbClr val="000000"/>
                </a:solidFill>
                <a:latin typeface="Arial"/>
              </a:defRPr>
            </a:pPr>
            <a:r>
              <a:t>• Graph Neural Network (GNN): A model that learns from data structured as a graph (nodes and edges).</a:t>
            </a:r>
          </a:p>
          <a:p>
            <a:pPr>
              <a:spcBef>
                <a:spcPts val="1000"/>
              </a:spcBef>
              <a:defRPr sz="2000">
                <a:solidFill>
                  <a:srgbClr val="000000"/>
                </a:solidFill>
                <a:latin typeface="Arial"/>
              </a:defRPr>
            </a:pPr>
            <a:r>
              <a:t>• Node / Edge: A node represents a post. An edge represents a connection (shared author/link) between posts.</a:t>
            </a:r>
          </a:p>
          <a:p>
            <a:pPr>
              <a:spcBef>
                <a:spcPts val="1000"/>
              </a:spcBef>
              <a:defRPr sz="2000">
                <a:solidFill>
                  <a:srgbClr val="000000"/>
                </a:solidFill>
                <a:latin typeface="Arial"/>
              </a:defRPr>
            </a:pPr>
            <a:r>
              <a:t>• ModernBERT: A state-of-the-art transformer model used to understand the text (Semantic Embedding).</a:t>
            </a:r>
          </a:p>
          <a:p>
            <a:pPr>
              <a:spcBef>
                <a:spcPts val="1000"/>
              </a:spcBef>
              <a:defRPr sz="2000">
                <a:solidFill>
                  <a:srgbClr val="000000"/>
                </a:solidFill>
                <a:latin typeface="Arial"/>
              </a:defRPr>
            </a:pPr>
            <a:r>
              <a:t>• GraphSAGE: A specific type of GNN that samples and aggregates information from a node's neighbors.</a:t>
            </a:r>
          </a:p>
          <a:p>
            <a:pPr>
              <a:spcBef>
                <a:spcPts val="1000"/>
              </a:spcBef>
              <a:defRPr sz="2000">
                <a:solidFill>
                  <a:srgbClr val="000000"/>
                </a:solidFill>
                <a:latin typeface="Arial"/>
              </a:defRPr>
            </a:pPr>
            <a:r>
              <a:t>• Embeddings: Dense vectors (lists of numbers) representing the meaning of text.</a:t>
            </a:r>
          </a:p>
          <a:p>
            <a:pPr>
              <a:spcBef>
                <a:spcPts val="1000"/>
              </a:spcBef>
              <a:defRPr sz="2000">
                <a:solidFill>
                  <a:srgbClr val="000000"/>
                </a:solidFill>
                <a:latin typeface="Arial"/>
              </a:defRPr>
            </a:pPr>
            <a:r>
              <a:t>• Epochs: One complete pass through the training dataset.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Technology Stack</a:t>
            </a:r>
          </a:p>
        </p:txBody>
      </p:sp>
      <p:sp>
        <p:nvSpPr>
          <p:cNvPr id="3" name="Content Placeholder 2"/>
          <p:cNvSpPr>
            <a:spLocks noGrp="1"/>
          </p:cNvSpPr>
          <p:nvPr>
            <p:ph idx="1"/>
          </p:nvPr>
        </p:nvSpPr>
        <p:spPr/>
        <p:txBody>
          <a:bodyPr/>
          <a:lstStyle/>
          <a:p/>
          <a:p>
            <a:pPr>
              <a:defRPr sz="2000">
                <a:solidFill>
                  <a:srgbClr val="000000"/>
                </a:solidFill>
                <a:latin typeface="Arial"/>
              </a:defRPr>
            </a:pPr>
            <a:r>
              <a:t>• Language / Core: Python 3</a:t>
            </a:r>
          </a:p>
          <a:p>
            <a:pPr>
              <a:spcBef>
                <a:spcPts val="1000"/>
              </a:spcBef>
              <a:defRPr sz="2000">
                <a:solidFill>
                  <a:srgbClr val="000000"/>
                </a:solidFill>
                <a:latin typeface="Arial"/>
              </a:defRPr>
            </a:pPr>
            <a:r>
              <a:t>• Deep Learning Framework: PyTorch</a:t>
            </a:r>
          </a:p>
          <a:p>
            <a:pPr>
              <a:spcBef>
                <a:spcPts val="1000"/>
              </a:spcBef>
              <a:defRPr sz="2000">
                <a:solidFill>
                  <a:srgbClr val="000000"/>
                </a:solidFill>
                <a:latin typeface="Arial"/>
              </a:defRPr>
            </a:pPr>
            <a:r>
              <a:t>• Graph Processing: PyTorch Geometric (PyG)</a:t>
            </a:r>
          </a:p>
          <a:p>
            <a:pPr>
              <a:spcBef>
                <a:spcPts val="1000"/>
              </a:spcBef>
              <a:defRPr sz="2000">
                <a:solidFill>
                  <a:srgbClr val="000000"/>
                </a:solidFill>
                <a:latin typeface="Arial"/>
              </a:defRPr>
            </a:pPr>
            <a:r>
              <a:t>• NLP / Transformers: HuggingFace Transformers (ModernBERT)</a:t>
            </a:r>
          </a:p>
          <a:p>
            <a:pPr>
              <a:spcBef>
                <a:spcPts val="1000"/>
              </a:spcBef>
              <a:defRPr sz="2000">
                <a:solidFill>
                  <a:srgbClr val="000000"/>
                </a:solidFill>
                <a:latin typeface="Arial"/>
              </a:defRPr>
            </a:pPr>
            <a:r>
              <a:t>• Data Manipulation: Pandas, NumPy</a:t>
            </a:r>
          </a:p>
          <a:p>
            <a:pPr>
              <a:spcBef>
                <a:spcPts val="1000"/>
              </a:spcBef>
              <a:defRPr sz="2000">
                <a:solidFill>
                  <a:srgbClr val="000000"/>
                </a:solidFill>
                <a:latin typeface="Arial"/>
              </a:defRPr>
            </a:pPr>
            <a:r>
              <a:t>• Evaluation Metrics: Scikit-learn (Accuracy, F1-Score)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Project Pipeline &amp; Methodology</a:t>
            </a:r>
          </a:p>
        </p:txBody>
      </p:sp>
      <p:sp>
        <p:nvSpPr>
          <p:cNvPr id="3" name="Content Placeholder 2"/>
          <p:cNvSpPr>
            <a:spLocks noGrp="1"/>
          </p:cNvSpPr>
          <p:nvPr>
            <p:ph idx="1"/>
          </p:nvPr>
        </p:nvSpPr>
        <p:spPr/>
        <p:txBody>
          <a:bodyPr/>
          <a:lstStyle/>
          <a:p/>
        </p:txBody>
      </p:sp>
      <p:sp>
        <p:nvSpPr>
          <p:cNvPr id="4" name="Rectangle 3"/>
          <p:cNvSpPr/>
          <p:nvPr/>
        </p:nvSpPr>
        <p:spPr>
          <a:xfrm>
            <a:off x="457200" y="1828800"/>
            <a:ext cx="1645920" cy="73152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000000"/>
                </a:solidFill>
              </a:defRPr>
            </a:pPr>
            <a:r>
              <a:t>Raw Data</a:t>
            </a:r>
          </a:p>
          <a:p>
            <a:pPr>
              <a:defRPr>
                <a:solidFill>
                  <a:srgbClr val="000000"/>
                </a:solidFill>
              </a:defRPr>
            </a:pPr>
            <a:r>
              <a:t>Preprocessing</a:t>
            </a:r>
          </a:p>
        </p:txBody>
      </p:sp>
      <p:sp>
        <p:nvSpPr>
          <p:cNvPr id="5" name="Rectangle 4"/>
          <p:cNvSpPr/>
          <p:nvPr/>
        </p:nvSpPr>
        <p:spPr>
          <a:xfrm>
            <a:off x="2743200" y="1371600"/>
            <a:ext cx="1645920" cy="73152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000000"/>
                </a:solidFill>
              </a:defRPr>
            </a:pPr>
            <a:r>
              <a:t>Text Encoding</a:t>
            </a:r>
          </a:p>
          <a:p>
            <a:pPr>
              <a:defRPr>
                <a:solidFill>
                  <a:srgbClr val="000000"/>
                </a:solidFill>
              </a:defRPr>
            </a:pPr>
            <a:r>
              <a:t>(ModernBERT)</a:t>
            </a:r>
          </a:p>
        </p:txBody>
      </p:sp>
      <p:sp>
        <p:nvSpPr>
          <p:cNvPr id="6" name="Rectangle 5"/>
          <p:cNvSpPr/>
          <p:nvPr/>
        </p:nvSpPr>
        <p:spPr>
          <a:xfrm>
            <a:off x="2743200" y="2468880"/>
            <a:ext cx="1645920" cy="73152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000000"/>
                </a:solidFill>
              </a:defRPr>
            </a:pPr>
            <a:r>
              <a:t>Graph Builder</a:t>
            </a:r>
          </a:p>
          <a:p>
            <a:pPr>
              <a:defRPr>
                <a:solidFill>
                  <a:srgbClr val="000000"/>
                </a:solidFill>
              </a:defRPr>
            </a:pPr>
            <a:r>
              <a:t>(Nodes &amp; Edges)</a:t>
            </a:r>
          </a:p>
        </p:txBody>
      </p:sp>
      <p:sp>
        <p:nvSpPr>
          <p:cNvPr id="7" name="Rectangle 6"/>
          <p:cNvSpPr/>
          <p:nvPr/>
        </p:nvSpPr>
        <p:spPr>
          <a:xfrm>
            <a:off x="5029200" y="1828800"/>
            <a:ext cx="2103120" cy="73152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000000"/>
                </a:solidFill>
              </a:defRPr>
            </a:pPr>
            <a:r>
              <a:t>GraphSAGE</a:t>
            </a:r>
          </a:p>
          <a:p>
            <a:pPr>
              <a:defRPr>
                <a:solidFill>
                  <a:srgbClr val="000000"/>
                </a:solidFill>
              </a:defRPr>
            </a:pPr>
            <a:r>
              <a:t>(Feature + Structure)</a:t>
            </a:r>
          </a:p>
        </p:txBody>
      </p:sp>
      <p:sp>
        <p:nvSpPr>
          <p:cNvPr id="8" name="Rectangle 7"/>
          <p:cNvSpPr/>
          <p:nvPr/>
        </p:nvSpPr>
        <p:spPr>
          <a:xfrm>
            <a:off x="7772400" y="1828800"/>
            <a:ext cx="1645920" cy="731520"/>
          </a:xfrm>
          <a:prstGeom prst="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000000"/>
                </a:solidFill>
              </a:defRPr>
            </a:pPr>
            <a:r>
              <a:t>Classification</a:t>
            </a:r>
          </a:p>
          <a:p>
            <a:pPr>
              <a:defRPr>
                <a:solidFill>
                  <a:srgbClr val="000000"/>
                </a:solidFill>
              </a:defRPr>
            </a:pPr>
            <a:r>
              <a:t>(Real / Fake)</a:t>
            </a:r>
          </a:p>
        </p:txBody>
      </p:sp>
      <p:sp>
        <p:nvSpPr>
          <p:cNvPr id="9" name="Right Arrow 8"/>
          <p:cNvSpPr/>
          <p:nvPr/>
        </p:nvSpPr>
        <p:spPr>
          <a:xfrm>
            <a:off x="2194560" y="2103120"/>
            <a:ext cx="457200" cy="182880"/>
          </a:xfrm>
          <a:prstGeom prst="rightArrow">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480560" y="1645920"/>
            <a:ext cx="457200" cy="182880"/>
          </a:xfrm>
          <a:prstGeom prst="rightArrow">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480560" y="2743200"/>
            <a:ext cx="457200" cy="182880"/>
          </a:xfrm>
          <a:prstGeom prst="rightArrow">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223760" y="2103120"/>
            <a:ext cx="457200" cy="182880"/>
          </a:xfrm>
          <a:prstGeom prst="rightArrow">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Step 1 &amp; 2: Data Preprocessing &amp; Pilot Dataset</a:t>
            </a:r>
          </a:p>
        </p:txBody>
      </p:sp>
      <p:sp>
        <p:nvSpPr>
          <p:cNvPr id="3" name="Content Placeholder 2"/>
          <p:cNvSpPr>
            <a:spLocks noGrp="1"/>
          </p:cNvSpPr>
          <p:nvPr>
            <p:ph idx="1"/>
          </p:nvPr>
        </p:nvSpPr>
        <p:spPr/>
        <p:txBody>
          <a:bodyPr/>
          <a:lstStyle/>
          <a:p/>
          <a:p>
            <a:pPr>
              <a:defRPr sz="2000">
                <a:solidFill>
                  <a:srgbClr val="000000"/>
                </a:solidFill>
                <a:latin typeface="Arial"/>
              </a:defRPr>
            </a:pPr>
            <a:r>
              <a:t>• Dataset: Fakeddit (Multimodal fake news dataset).</a:t>
            </a:r>
          </a:p>
          <a:p>
            <a:pPr>
              <a:spcBef>
                <a:spcPts val="1000"/>
              </a:spcBef>
              <a:defRPr sz="2000">
                <a:solidFill>
                  <a:srgbClr val="000000"/>
                </a:solidFill>
                <a:latin typeface="Arial"/>
              </a:defRPr>
            </a:pPr>
            <a:r>
              <a:t>• Preprocessing: Filtered missing metadata (authors/subreddits), cleaned titles, removed empty text rows.</a:t>
            </a:r>
          </a:p>
          <a:p>
            <a:pPr>
              <a:spcBef>
                <a:spcPts val="1000"/>
              </a:spcBef>
              <a:defRPr sz="2000">
                <a:solidFill>
                  <a:srgbClr val="000000"/>
                </a:solidFill>
                <a:latin typeface="Arial"/>
              </a:defRPr>
            </a:pPr>
            <a:r>
              <a:t>• Pilot Generation: Sampled a balanced 10,000 node dataset (8k train, 1k validation, 1k test) to allow fast experimentation.</a:t>
            </a:r>
          </a:p>
          <a:p>
            <a:pPr>
              <a:spcBef>
                <a:spcPts val="1000"/>
              </a:spcBef>
              <a:defRPr sz="2000">
                <a:solidFill>
                  <a:srgbClr val="000000"/>
                </a:solidFill>
                <a:latin typeface="Arial"/>
              </a:defRPr>
            </a:pPr>
            <a:r>
              <a:t>• Purpose: High-quality, balanced data is crucial for preventing bias and memory issues during graph 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Step 3: Baseline Language Model Training</a:t>
            </a:r>
          </a:p>
        </p:txBody>
      </p:sp>
      <p:sp>
        <p:nvSpPr>
          <p:cNvPr id="3" name="Content Placeholder 2"/>
          <p:cNvSpPr>
            <a:spLocks noGrp="1"/>
          </p:cNvSpPr>
          <p:nvPr>
            <p:ph idx="1"/>
          </p:nvPr>
        </p:nvSpPr>
        <p:spPr/>
        <p:txBody>
          <a:bodyPr/>
          <a:lstStyle/>
          <a:p/>
          <a:p>
            <a:pPr>
              <a:defRPr sz="2000">
                <a:solidFill>
                  <a:srgbClr val="000000"/>
                </a:solidFill>
                <a:latin typeface="Arial"/>
              </a:defRPr>
            </a:pPr>
            <a:r>
              <a:t>• Model: ModernBERT (answerdotai/ModernBERT-base).</a:t>
            </a:r>
          </a:p>
          <a:p>
            <a:pPr>
              <a:spcBef>
                <a:spcPts val="1000"/>
              </a:spcBef>
              <a:defRPr sz="2000">
                <a:solidFill>
                  <a:srgbClr val="000000"/>
                </a:solidFill>
                <a:latin typeface="Arial"/>
              </a:defRPr>
            </a:pPr>
            <a:r>
              <a:t>• Architecture: 2024 SOTA Transformer with FlashAttention-2 and RoPE.</a:t>
            </a:r>
          </a:p>
          <a:p>
            <a:pPr>
              <a:spcBef>
                <a:spcPts val="1000"/>
              </a:spcBef>
              <a:defRPr sz="2000">
                <a:solidFill>
                  <a:srgbClr val="000000"/>
                </a:solidFill>
                <a:latin typeface="Arial"/>
              </a:defRPr>
            </a:pPr>
            <a:r>
              <a:t>• Goal: Fine-tune the model strictly on the post titles to classify real vs. fake news based only on text.</a:t>
            </a:r>
          </a:p>
          <a:p>
            <a:pPr>
              <a:spcBef>
                <a:spcPts val="1000"/>
              </a:spcBef>
              <a:defRPr sz="2000">
                <a:solidFill>
                  <a:srgbClr val="000000"/>
                </a:solidFill>
                <a:latin typeface="Arial"/>
              </a:defRPr>
            </a:pPr>
            <a:r>
              <a:t>• Outcome: Achieved an initial baseline accuracy (83.4%) and extracted high-quality text weights.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Step 4: Relational Graph Construction</a:t>
            </a:r>
          </a:p>
        </p:txBody>
      </p:sp>
      <p:sp>
        <p:nvSpPr>
          <p:cNvPr id="3" name="Content Placeholder 2"/>
          <p:cNvSpPr>
            <a:spLocks noGrp="1"/>
          </p:cNvSpPr>
          <p:nvPr>
            <p:ph idx="1"/>
          </p:nvPr>
        </p:nvSpPr>
        <p:spPr/>
        <p:txBody>
          <a:bodyPr/>
          <a:lstStyle/>
          <a:p/>
          <a:p>
            <a:pPr>
              <a:defRPr sz="2000">
                <a:solidFill>
                  <a:srgbClr val="000000"/>
                </a:solidFill>
                <a:latin typeface="Arial"/>
              </a:defRPr>
            </a:pPr>
            <a:r>
              <a:t>• Process: Treat the 10,000 posts as nodes in a graph.</a:t>
            </a:r>
          </a:p>
          <a:p>
            <a:pPr>
              <a:spcBef>
                <a:spcPts val="1000"/>
              </a:spcBef>
              <a:defRPr sz="2000">
                <a:solidFill>
                  <a:srgbClr val="000000"/>
                </a:solidFill>
                <a:latin typeface="Arial"/>
              </a:defRPr>
            </a:pPr>
            <a:r>
              <a:t>• Edges created based on explicit links (linked_submission_id) and implicit communities (shared authors).</a:t>
            </a:r>
          </a:p>
          <a:p>
            <a:pPr>
              <a:spcBef>
                <a:spcPts val="1000"/>
              </a:spcBef>
              <a:defRPr sz="2000">
                <a:solidFill>
                  <a:srgbClr val="000000"/>
                </a:solidFill>
                <a:latin typeface="Arial"/>
              </a:defRPr>
            </a:pPr>
            <a:r>
              <a:t>• Constraint: Capped author connections at 50 posts to prevent 'bot' accounts from causing out-of-memory errors (degree explosion).</a:t>
            </a:r>
          </a:p>
          <a:p>
            <a:pPr>
              <a:spcBef>
                <a:spcPts val="1000"/>
              </a:spcBef>
              <a:defRPr sz="2000">
                <a:solidFill>
                  <a:srgbClr val="000000"/>
                </a:solidFill>
                <a:latin typeface="Arial"/>
              </a:defRPr>
            </a:pPr>
            <a:r>
              <a:t>• Result: A graph with 10,000 nodes and 9,878 directed edges representing the social network.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Step 5 &amp; 6: Feature Extraction &amp; GraphSAGE</a:t>
            </a:r>
          </a:p>
        </p:txBody>
      </p:sp>
      <p:sp>
        <p:nvSpPr>
          <p:cNvPr id="3" name="Content Placeholder 2"/>
          <p:cNvSpPr>
            <a:spLocks noGrp="1"/>
          </p:cNvSpPr>
          <p:nvPr>
            <p:ph idx="1"/>
          </p:nvPr>
        </p:nvSpPr>
        <p:spPr/>
        <p:txBody>
          <a:bodyPr/>
          <a:lstStyle/>
          <a:p/>
          <a:p>
            <a:pPr>
              <a:defRPr sz="2000">
                <a:solidFill>
                  <a:srgbClr val="000000"/>
                </a:solidFill>
                <a:latin typeface="Arial"/>
              </a:defRPr>
            </a:pPr>
            <a:r>
              <a:t>• Embedding Extraction: Pass all 10,000 posts through ModernBERT to extract a [10000, 768] feature matrix.</a:t>
            </a:r>
          </a:p>
          <a:p>
            <a:pPr>
              <a:spcBef>
                <a:spcPts val="1000"/>
              </a:spcBef>
              <a:defRPr sz="2000">
                <a:solidFill>
                  <a:srgbClr val="000000"/>
                </a:solidFill>
                <a:latin typeface="Arial"/>
              </a:defRPr>
            </a:pPr>
            <a:r>
              <a:t>• GNN Training: Train GraphSAGE (Sample and Aggregate) on this matrix + the graph structure.</a:t>
            </a:r>
          </a:p>
          <a:p>
            <a:pPr>
              <a:spcBef>
                <a:spcPts val="1000"/>
              </a:spcBef>
              <a:defRPr sz="2000">
                <a:solidFill>
                  <a:srgbClr val="000000"/>
                </a:solidFill>
                <a:latin typeface="Arial"/>
              </a:defRPr>
            </a:pPr>
            <a:r>
              <a:t>• Algorithm: GraphSAGE samples neighbors and aggregates their features to update the target node's representation.</a:t>
            </a:r>
          </a:p>
          <a:p>
            <a:pPr>
              <a:spcBef>
                <a:spcPts val="1000"/>
              </a:spcBef>
              <a:defRPr sz="2000">
                <a:solidFill>
                  <a:srgbClr val="000000"/>
                </a:solidFill>
                <a:latin typeface="Arial"/>
              </a:defRPr>
            </a:pPr>
            <a:r>
              <a:t>• Leakage Prevention: Used strict transductive masks (train_mask, val_mask, test_mask) to ensure the test data remained completely unseen during 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Comparative Analysis &amp; Final Metrics</a:t>
            </a:r>
          </a:p>
        </p:txBody>
      </p:sp>
      <p:sp>
        <p:nvSpPr>
          <p:cNvPr id="3" name="Content Placeholder 2"/>
          <p:cNvSpPr>
            <a:spLocks noGrp="1"/>
          </p:cNvSpPr>
          <p:nvPr>
            <p:ph idx="1"/>
          </p:nvPr>
        </p:nvSpPr>
        <p:spPr/>
        <p:txBody>
          <a:bodyPr/>
          <a:lstStyle/>
          <a:p/>
          <a:p>
            <a:pPr>
              <a:defRPr sz="2000">
                <a:solidFill>
                  <a:srgbClr val="000000"/>
                </a:solidFill>
                <a:latin typeface="Arial"/>
              </a:defRPr>
            </a:pPr>
            <a:r>
              <a:t>• Baseline Model (Text-Only ModernBERT):</a:t>
            </a:r>
          </a:p>
          <a:p>
            <a:pPr>
              <a:spcBef>
                <a:spcPts val="1000"/>
              </a:spcBef>
              <a:defRPr sz="2000">
                <a:solidFill>
                  <a:srgbClr val="000000"/>
                </a:solidFill>
                <a:latin typeface="Arial"/>
              </a:defRPr>
            </a:pPr>
            <a:r>
              <a:t>   - Validation Accuracy: 83.40%</a:t>
            </a:r>
          </a:p>
          <a:p>
            <a:pPr>
              <a:spcBef>
                <a:spcPts val="1000"/>
              </a:spcBef>
              <a:defRPr sz="2000">
                <a:solidFill>
                  <a:srgbClr val="000000"/>
                </a:solidFill>
                <a:latin typeface="Arial"/>
              </a:defRPr>
            </a:pPr>
            <a:r>
              <a:t>   - Validation F1-Score: 0.7883</a:t>
            </a:r>
          </a:p>
          <a:p>
            <a:pPr>
              <a:spcBef>
                <a:spcPts val="1000"/>
              </a:spcBef>
              <a:defRPr sz="2000">
                <a:solidFill>
                  <a:srgbClr val="000000"/>
                </a:solidFill>
                <a:latin typeface="Arial"/>
              </a:defRPr>
            </a:pPr>
            <a:r>
              <a:t>• Final Model (GraphSAGE - Text + Social Graph):</a:t>
            </a:r>
          </a:p>
          <a:p>
            <a:pPr>
              <a:spcBef>
                <a:spcPts val="1000"/>
              </a:spcBef>
              <a:defRPr sz="2000">
                <a:solidFill>
                  <a:srgbClr val="000000"/>
                </a:solidFill>
                <a:latin typeface="Arial"/>
              </a:defRPr>
            </a:pPr>
            <a:r>
              <a:t>   - Validation Accuracy: 85.60%  |  Validation F1-Score: 0.8159</a:t>
            </a:r>
          </a:p>
          <a:p>
            <a:pPr>
              <a:spcBef>
                <a:spcPts val="1000"/>
              </a:spcBef>
              <a:defRPr sz="2000">
                <a:solidFill>
                  <a:srgbClr val="000000"/>
                </a:solidFill>
                <a:latin typeface="Arial"/>
              </a:defRPr>
            </a:pPr>
            <a:r>
              <a:t>   - Test Accuracy (Unseen): 86.20%</a:t>
            </a:r>
          </a:p>
          <a:p>
            <a:pPr>
              <a:spcBef>
                <a:spcPts val="1000"/>
              </a:spcBef>
              <a:defRPr sz="2000">
                <a:solidFill>
                  <a:srgbClr val="000000"/>
                </a:solidFill>
                <a:latin typeface="Arial"/>
              </a:defRPr>
            </a:pPr>
            <a:r>
              <a:t>   - Test F1-Score (Unseen): 0.8333</a:t>
            </a:r>
          </a:p>
          <a:p>
            <a:pPr>
              <a:spcBef>
                <a:spcPts val="1000"/>
              </a:spcBef>
              <a:defRPr sz="2000">
                <a:solidFill>
                  <a:srgbClr val="000000"/>
                </a:solidFill>
                <a:latin typeface="Arial"/>
              </a:defRPr>
            </a:pPr>
            <a:r>
              <a:t>• Conclusion: Adding graph context (who posts and links) improved F1 score by ~4.5%.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Key Obstacles &amp; Solutions</a:t>
            </a:r>
          </a:p>
        </p:txBody>
      </p:sp>
      <p:sp>
        <p:nvSpPr>
          <p:cNvPr id="3" name="Content Placeholder 2"/>
          <p:cNvSpPr>
            <a:spLocks noGrp="1"/>
          </p:cNvSpPr>
          <p:nvPr>
            <p:ph idx="1"/>
          </p:nvPr>
        </p:nvSpPr>
        <p:spPr/>
        <p:txBody>
          <a:bodyPr/>
          <a:lstStyle/>
          <a:p/>
          <a:p>
            <a:pPr>
              <a:defRPr sz="2000">
                <a:solidFill>
                  <a:srgbClr val="000000"/>
                </a:solidFill>
                <a:latin typeface="Arial"/>
              </a:defRPr>
            </a:pPr>
            <a:r>
              <a:t>• Memory Limits (Degree Explosion): Highly active bot accounts created massive cliques (fully connected subgraphs) that crashed RAM. Solution: Capped max edges per author at 50.</a:t>
            </a:r>
          </a:p>
          <a:p>
            <a:pPr>
              <a:spcBef>
                <a:spcPts val="1000"/>
              </a:spcBef>
              <a:defRPr sz="2000">
                <a:solidFill>
                  <a:srgbClr val="000000"/>
                </a:solidFill>
                <a:latin typeface="Arial"/>
              </a:defRPr>
            </a:pPr>
            <a:r>
              <a:t>• Data Leakage in Graphs: GNNs can accidentally 'see' test labels through edges. Solution: Applied transductive masking (train/val/test masks) to hide test labels during loss calculation.</a:t>
            </a:r>
          </a:p>
          <a:p>
            <a:pPr>
              <a:spcBef>
                <a:spcPts val="1000"/>
              </a:spcBef>
              <a:defRPr sz="2000">
                <a:solidFill>
                  <a:srgbClr val="000000"/>
                </a:solidFill>
                <a:latin typeface="Arial"/>
              </a:defRPr>
            </a:pPr>
            <a:r>
              <a:t>• Computing Heavy NLP: Training transformers is slow. Solution: Used ModernBERT with FlashAttention to drastically speed up processing and extracted embeddings offline before GNN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Future Work (What Can Be Done Next)</a:t>
            </a:r>
          </a:p>
        </p:txBody>
      </p:sp>
      <p:sp>
        <p:nvSpPr>
          <p:cNvPr id="3" name="Content Placeholder 2"/>
          <p:cNvSpPr>
            <a:spLocks noGrp="1"/>
          </p:cNvSpPr>
          <p:nvPr>
            <p:ph idx="1"/>
          </p:nvPr>
        </p:nvSpPr>
        <p:spPr/>
        <p:txBody>
          <a:bodyPr/>
          <a:lstStyle/>
          <a:p/>
          <a:p>
            <a:pPr>
              <a:defRPr sz="2000">
                <a:solidFill>
                  <a:srgbClr val="000000"/>
                </a:solidFill>
                <a:latin typeface="Arial"/>
              </a:defRPr>
            </a:pPr>
            <a:r>
              <a:t>• Scale to Full Dataset: Run the validated pipeline on the complete 560,000+ node dataset.</a:t>
            </a:r>
          </a:p>
          <a:p>
            <a:pPr>
              <a:spcBef>
                <a:spcPts val="1000"/>
              </a:spcBef>
              <a:defRPr sz="2000">
                <a:solidFill>
                  <a:srgbClr val="000000"/>
                </a:solidFill>
                <a:latin typeface="Arial"/>
              </a:defRPr>
            </a:pPr>
            <a:r>
              <a:t>• Image/Multimodal Integration: Incorporate the 'image_url' and 'hasImage' data. Combine image embeddings (e.g., using ResNet/CLIP) with text embeddings before GNN passing.</a:t>
            </a:r>
          </a:p>
          <a:p>
            <a:pPr>
              <a:spcBef>
                <a:spcPts val="1000"/>
              </a:spcBef>
              <a:defRPr sz="2000">
                <a:solidFill>
                  <a:srgbClr val="000000"/>
                </a:solidFill>
                <a:latin typeface="Arial"/>
              </a:defRPr>
            </a:pPr>
            <a:r>
              <a:t>• Edge Weights: Assign different weights to edges (e.g., a linked submission edge might be stronger than a shared author edge).</a:t>
            </a:r>
          </a:p>
          <a:p>
            <a:pPr>
              <a:spcBef>
                <a:spcPts val="1000"/>
              </a:spcBef>
              <a:defRPr sz="2000">
                <a:solidFill>
                  <a:srgbClr val="000000"/>
                </a:solidFill>
                <a:latin typeface="Arial"/>
              </a:defRPr>
            </a:pPr>
            <a:r>
              <a:t>• Alternative Architectures: Experiment with GATv2 (Graph Attention Networks) to dynamically learn which neighbors are most suspicious.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000000"/>
                </a:solidFill>
                <a:latin typeface="Arial"/>
              </a:defRPr>
            </a:pPr>
            <a:r>
              <a:t>Final Takeaway</a:t>
            </a:r>
          </a:p>
        </p:txBody>
      </p:sp>
      <p:sp>
        <p:nvSpPr>
          <p:cNvPr id="3" name="Content Placeholder 2"/>
          <p:cNvSpPr>
            <a:spLocks noGrp="1"/>
          </p:cNvSpPr>
          <p:nvPr>
            <p:ph idx="1"/>
          </p:nvPr>
        </p:nvSpPr>
        <p:spPr/>
        <p:txBody>
          <a:bodyPr/>
          <a:lstStyle/>
          <a:p/>
          <a:p>
            <a:pPr>
              <a:defRPr sz="2000">
                <a:solidFill>
                  <a:srgbClr val="000000"/>
                </a:solidFill>
                <a:latin typeface="Arial"/>
              </a:defRPr>
            </a:pPr>
            <a:r>
              <a:t>• Text Alone is Insufficient: Modern deceptive content mimics authentic writing styles effectively.</a:t>
            </a:r>
          </a:p>
          <a:p>
            <a:pPr>
              <a:spcBef>
                <a:spcPts val="1000"/>
              </a:spcBef>
              <a:defRPr sz="2000">
                <a:solidFill>
                  <a:srgbClr val="000000"/>
                </a:solidFill>
                <a:latin typeface="Arial"/>
              </a:defRPr>
            </a:pPr>
            <a:r>
              <a:t>• Structure Matters: The social context—who is posting, and how they link to others—contains critical signals for detecting misinformation.</a:t>
            </a:r>
          </a:p>
          <a:p>
            <a:pPr>
              <a:spcBef>
                <a:spcPts val="1000"/>
              </a:spcBef>
              <a:defRPr sz="2000">
                <a:solidFill>
                  <a:srgbClr val="000000"/>
                </a:solidFill>
                <a:latin typeface="Arial"/>
              </a:defRPr>
            </a:pPr>
            <a:r>
              <a:t>• Hybrid Approach Wins: Fusing semantic embeddings (ModernBERT) with topological structure (GraphSAGE) successfully yields a highly accurate, scalable fake news detection system (86.2% Test Accuracy).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